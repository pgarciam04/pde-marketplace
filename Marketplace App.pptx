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776A7A-D814-4ED1-8A78-5DAE32B8C2C7}" v="162" dt="2025-12-20T10:00:09.057"/>
    <p1510:client id="{E107B584-C5B4-EFB6-0A8E-CFB8A9970406}" v="3" dt="2025-12-20T09:49:44.9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F0697-AD2A-40AB-2F6D-8EEE7993D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B5D861-B134-5903-65B7-5A35769BD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B64DD6-3F3F-FB0C-9B6B-C65D090CA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18A1A9-0E5C-9ED4-EFD0-03BEE42A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0B264C-2C8D-9481-0E9F-9A5635DB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675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0D75D5-3A96-51FF-137D-A40579FF6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7E4C1C-1C4A-724C-3B89-80052933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119F16-11BD-D275-C7D8-1206F792B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D3B023-A2D9-6150-8AFC-EB7BBAF79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EE85B5-EFF5-1581-229B-574A2D71C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90484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F2F60F-8A23-2B7A-BB59-5C6DDB7DE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0B3D47E-69BB-2BFC-26C2-955C1DAA8E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6D590E0-E5B1-EBEF-D3EA-54904B31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4E3359-E983-E9B8-7DAA-E6F2B00FB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B9ACCF-B9B0-2801-E224-E626CC7D0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850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3F4BB1-6BF6-64D4-3B58-4C976F8AD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13FE45-EF9A-C64E-7FB3-31BD6F6832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407888C-A557-D6F9-6317-DFEC96637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68C19DC-D1C2-2850-7D10-6E8E62816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9C4391-D93E-B383-2427-5F2B4E08E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9FDB1AD-6B1D-DDB6-CF2F-4E655F24D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7011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E156C8-C3E4-CD6B-3F03-1D78AEF5D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A168AB-B086-DD0C-E2FF-7647CB9A1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AB02B6-2DD3-5297-F708-5C34B4CC01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1C7BBD1-2CF0-CCF6-0AE3-3D3528AF1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20D46FD-50E1-CFEF-BF0E-15FC46473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6FA0ED8-AED1-E1D7-EB77-BA7C27F52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361B49D-8594-5F21-6688-91D5EBC8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5B285DF-0D38-1558-3313-5AE98DD43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9314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ABA6FC-5C50-DB7E-84AD-5EE9EA2C9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F84538A-D010-5091-5B54-67DAE385C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F5447F8-D93F-EA54-E4B6-F62B30090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63845CE-A063-D9A2-756F-9ADE4DFF5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3697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24A882A-4783-2751-CC4C-21F354A39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98A4BAA-DD74-747E-3FA5-FB8D75C9A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7C018FD-8740-F7E8-6AD3-95D924848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932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F262A3-7CA7-F71B-46B8-E0FA4EAA1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673398-43AF-CB61-5E59-4B0CA5F80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862625E-8FC8-6949-613B-5C2AAB2B4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3FE663F-5AEC-C5AE-6E3E-06E24149B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A3F3DD-CF4D-9F03-7DD6-F930DCDB4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E121834-AE66-2108-AFDD-5F8DCD7D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3175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B5E9E5-1A02-7292-98D7-BAE6F42AE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17254E6-8CE1-7024-795F-23F5EBFA1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D100CF2-57AC-6DD1-9B8F-954F091FB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71D620C-8E5E-926A-C4C1-3CA9D18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7541B9E-C668-69C5-77F1-01AF1CDDE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DB46D6D-AE6E-B811-3DBF-95EAD32D3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15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B5352D-B75A-5420-756E-80F5B2A5E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09ADC3-66D2-3D25-80A3-93E7A1CB6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F428EB-3E8B-EB0C-CA5D-5DFC57161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C77FAF1-7DAD-9452-25B0-11BA22EBA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1F12114-4505-34AA-2D7B-0A0EF8BF6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8943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C809E5F-F605-179A-03E9-69B74A6FDA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3EED5E2-ACA6-2100-8DC5-B9A3240AE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6F43F8D-4891-CF10-409D-388D69261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F55F28-5F57-AFCB-6CCF-9BE4B7FAC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2546B9-2427-D1E6-3236-A947FBCD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5362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9F008FD-B503-5C43-40F7-4FC65558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276AD97-421B-B1FA-5848-0C0C496C5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E38EED-4D4D-60C3-BB70-FC03F01E65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E4D2DD-E55B-4BA7-A919-24019A4B22AF}" type="datetimeFigureOut">
              <a:rPr lang="es-ES" smtClean="0"/>
              <a:t>20/12/2025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14BBC5-2A43-67AE-A6F9-950F9D8A6D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AAC1D3-B487-2779-1425-4D06BAB0EB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3BF1E6-A4D9-4BA7-8521-795F6B5B3D0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33387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EEFD98-6890-996B-DE13-93C9781B14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s-ES" sz="4000">
                <a:solidFill>
                  <a:schemeClr val="tx2"/>
                </a:solidFill>
              </a:rPr>
              <a:t>Marketplace App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0CBD5F4-10CD-D0F6-F40B-0108761383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672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>
                <a:solidFill>
                  <a:schemeClr val="tx2"/>
                </a:solidFill>
              </a:rPr>
              <a:t>Pablo García Moya , Álvaro Martín Romero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phic 6" descr="Smart Phone">
            <a:extLst>
              <a:ext uri="{FF2B5EF4-FFF2-40B4-BE49-F238E27FC236}">
                <a16:creationId xmlns:a16="http://schemas.microsoft.com/office/drawing/2014/main" id="{3CA90F5D-7C2B-1037-0F42-1BA9EFBE57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3313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4EDD8FB-EDD7-7822-7AE0-5E71A6C0B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66" y="991261"/>
            <a:ext cx="5754696" cy="1837349"/>
          </a:xfrm>
        </p:spPr>
        <p:txBody>
          <a:bodyPr anchor="b">
            <a:normAutofit/>
          </a:bodyPr>
          <a:lstStyle/>
          <a:p>
            <a:pPr algn="ctr"/>
            <a:r>
              <a:rPr lang="es-ES" sz="3600">
                <a:solidFill>
                  <a:schemeClr val="tx2"/>
                </a:solidFill>
              </a:rPr>
              <a:t>Objetivo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3921CD-DDE5-4B57-8FDF-B37ADE4ED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1219" y="3985"/>
            <a:ext cx="9747620" cy="6858000"/>
            <a:chOff x="1318434" y="36937"/>
            <a:chExt cx="9747620" cy="68580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4CBEDF6-7B5F-471F-AF99-301A237481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D43DB10-4F84-47C2-8170-CB9EED8667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F35C7A0-1526-4D97-BCD8-91B3576E3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009574A-38B7-43A8-A925-1FB54C6B1A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3AAA50-DE22-4E5D-9064-A37786C590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83CF4B7-3A40-E83C-EE7A-9EFDE8356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5954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es-ES" sz="2000">
                <a:solidFill>
                  <a:schemeClr val="tx2"/>
                </a:solidFill>
              </a:rPr>
              <a:t>El objetivo de nuestra aplicación es brindar apoyo a todos los usuarios que quieren realizar compras online</a:t>
            </a:r>
          </a:p>
        </p:txBody>
      </p:sp>
    </p:spTree>
    <p:extLst>
      <p:ext uri="{BB962C8B-B14F-4D97-AF65-F5344CB8AC3E}">
        <p14:creationId xmlns:p14="http://schemas.microsoft.com/office/powerpoint/2010/main" val="557098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A3C7DEA-BCC2-4295-8850-147993296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89949D-B9F6-468A-86FE-2694DC5AE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8EF464-1835-2EEB-6FFC-73828F353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755073"/>
            <a:ext cx="9833548" cy="1066802"/>
          </a:xfrm>
        </p:spPr>
        <p:txBody>
          <a:bodyPr anchor="b">
            <a:normAutofit/>
          </a:bodyPr>
          <a:lstStyle/>
          <a:p>
            <a:r>
              <a:rPr lang="es-ES" sz="3600">
                <a:solidFill>
                  <a:schemeClr val="tx2"/>
                </a:solidFill>
              </a:rPr>
              <a:t>Tecnologías empleadas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4DF0958-0C87-4C28-9554-2FADC788C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C53B48-7B73-49D1-A6FD-9DBF5141E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DEDDC41-2C98-4AF1-A0EA-AEEC34827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2208F20-F93C-4530-8370-FC7818BAB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52F51E0-B50B-43EA-B6AC-C16BD29C3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384725E3-3941-6797-9AFA-4BD13C5AB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049325"/>
            <a:ext cx="9833548" cy="2945574"/>
          </a:xfrm>
        </p:spPr>
        <p:txBody>
          <a:bodyPr anchor="ctr">
            <a:normAutofit/>
          </a:bodyPr>
          <a:lstStyle/>
          <a:p>
            <a:r>
              <a:rPr lang="es-ES" sz="1800">
                <a:solidFill>
                  <a:schemeClr val="tx2"/>
                </a:solidFill>
              </a:rPr>
              <a:t>Gradle: Construcción y gestión de dependencias</a:t>
            </a:r>
          </a:p>
          <a:p>
            <a:r>
              <a:rPr lang="es-ES" sz="1800">
                <a:solidFill>
                  <a:schemeClr val="tx2"/>
                </a:solidFill>
              </a:rPr>
              <a:t>Java: Gestión de eventos, Control del flujo de la aplicación, comunicación con firebase, manejo del ciclo de vida de las actividades</a:t>
            </a:r>
          </a:p>
          <a:p>
            <a:r>
              <a:rPr lang="es-ES" sz="1800">
                <a:solidFill>
                  <a:schemeClr val="tx2"/>
                </a:solidFill>
              </a:rPr>
              <a:t>XML: Definición de las interfaces gráficas</a:t>
            </a:r>
          </a:p>
          <a:p>
            <a:r>
              <a:rPr lang="es-ES" sz="1800">
                <a:solidFill>
                  <a:schemeClr val="tx2"/>
                </a:solidFill>
              </a:rPr>
              <a:t>Firebase: Registro e inicio de sesión </a:t>
            </a:r>
          </a:p>
        </p:txBody>
      </p:sp>
    </p:spTree>
    <p:extLst>
      <p:ext uri="{BB962C8B-B14F-4D97-AF65-F5344CB8AC3E}">
        <p14:creationId xmlns:p14="http://schemas.microsoft.com/office/powerpoint/2010/main" val="1705556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23C845-8DC3-4E44-A43D-447787B9C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Decisiones </a:t>
            </a:r>
            <a:r>
              <a:rPr lang="es-ES" dirty="0" err="1"/>
              <a:t>Tecnicas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B8C096-E7A0-F82D-6EE2-93FC20C52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5323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1F5A0BC-5B99-DE6E-25AB-E49B79BA9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s-ES" sz="3600">
                <a:solidFill>
                  <a:schemeClr val="tx2"/>
                </a:solidFill>
              </a:rPr>
              <a:t>Arquitectura </a:t>
            </a:r>
          </a:p>
        </p:txBody>
      </p:sp>
      <p:pic>
        <p:nvPicPr>
          <p:cNvPr id="7" name="Graphic 6" descr="Social Network">
            <a:extLst>
              <a:ext uri="{FF2B5EF4-FFF2-40B4-BE49-F238E27FC236}">
                <a16:creationId xmlns:a16="http://schemas.microsoft.com/office/drawing/2014/main" id="{D5BAD266-A8FD-DCE2-59A3-60D74EFB68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DDEF33-A372-F5F2-C185-CFFBBDD7F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es-ES" sz="1800" dirty="0">
                <a:solidFill>
                  <a:schemeClr val="tx2"/>
                </a:solidFill>
              </a:rPr>
              <a:t>Hemos dividido nuestra app en tres capas:</a:t>
            </a:r>
          </a:p>
          <a:p>
            <a:endParaRPr lang="es-ES" sz="1800" dirty="0">
              <a:solidFill>
                <a:schemeClr val="tx2"/>
              </a:solidFill>
            </a:endParaRPr>
          </a:p>
          <a:p>
            <a:r>
              <a:rPr lang="es-ES" sz="1800" dirty="0">
                <a:solidFill>
                  <a:schemeClr val="tx2"/>
                </a:solidFill>
              </a:rPr>
              <a:t>Vista: Encargada de la interacción con el usuario y de recoger los eventos </a:t>
            </a:r>
          </a:p>
          <a:p>
            <a:r>
              <a:rPr lang="es-ES" sz="1800" dirty="0">
                <a:solidFill>
                  <a:schemeClr val="tx2"/>
                </a:solidFill>
              </a:rPr>
              <a:t>Lógica de control: Responde a los eventos, coordina la navegación y actualiza la vista</a:t>
            </a:r>
          </a:p>
          <a:p>
            <a:r>
              <a:rPr lang="es-ES" sz="1800" dirty="0">
                <a:solidFill>
                  <a:schemeClr val="tx2"/>
                </a:solidFill>
              </a:rPr>
              <a:t>Modelos: Manejan la autenticación, persistencia de datos y sincronización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71717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07325841-84F9-4C44-B6E8-7FB5C33A5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2A542E6-1924-4FE2-89D1-3CB19468C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F353183-2147-472B-AD7D-4A085FF6A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AAA42C8-A082-4DFD-A5F3-FC9EF825B1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4B257B7-BB6D-7C47-2005-2C2CFFE49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613" y="1018723"/>
            <a:ext cx="2952750" cy="82595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kern="1200">
                <a:latin typeface="+mj-lt"/>
                <a:ea typeface="+mj-ea"/>
                <a:cs typeface="+mj-cs"/>
              </a:rPr>
              <a:t>Diagrama de flujo</a:t>
            </a:r>
          </a:p>
        </p:txBody>
      </p:sp>
      <p:sp>
        <p:nvSpPr>
          <p:cNvPr id="51" name="Content Placeholder 46">
            <a:extLst>
              <a:ext uri="{FF2B5EF4-FFF2-40B4-BE49-F238E27FC236}">
                <a16:creationId xmlns:a16="http://schemas.microsoft.com/office/drawing/2014/main" id="{BB953E12-7C61-2AB5-1E83-C4C5FEC343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613" y="2059200"/>
            <a:ext cx="2952750" cy="3835409"/>
          </a:xfrm>
        </p:spPr>
        <p:txBody>
          <a:bodyPr anchor="t">
            <a:normAutofit/>
          </a:bodyPr>
          <a:lstStyle/>
          <a:p>
            <a:endParaRPr lang="en-US" sz="2000">
              <a:solidFill>
                <a:schemeClr val="tx1">
                  <a:alpha val="60000"/>
                </a:schemeClr>
              </a:solidFill>
            </a:endParaRPr>
          </a:p>
        </p:txBody>
      </p:sp>
      <p:pic>
        <p:nvPicPr>
          <p:cNvPr id="6" name="Marcador de contenido 5" descr="Imagen que contiene Escala de tiempo&#10;&#10;El contenido generado por IA puede ser incorrecto.">
            <a:extLst>
              <a:ext uri="{FF2B5EF4-FFF2-40B4-BE49-F238E27FC236}">
                <a16:creationId xmlns:a16="http://schemas.microsoft.com/office/drawing/2014/main" id="{F2E368F4-26EA-B154-483D-4BBC1F1D17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0550" y="1089025"/>
            <a:ext cx="5379249" cy="467995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49228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6F9434-926C-CADB-F54D-CAE5AE5DA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s-ES" sz="3300" b="1">
                <a:solidFill>
                  <a:schemeClr val="tx2"/>
                </a:solidFill>
              </a:rPr>
              <a:t>Funcionalidades Implementadas</a:t>
            </a:r>
            <a:br>
              <a:rPr lang="es-ES" sz="3300">
                <a:solidFill>
                  <a:schemeClr val="tx2"/>
                </a:solidFill>
              </a:rPr>
            </a:br>
            <a:endParaRPr lang="es-ES" sz="3300">
              <a:solidFill>
                <a:schemeClr val="tx2"/>
              </a:solidFill>
            </a:endParaRP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C82974B9-B133-1ABE-0B59-F62A82080C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lvl="0"/>
            <a:r>
              <a:rPr lang="es-ES" sz="1700">
                <a:solidFill>
                  <a:schemeClr val="tx2"/>
                </a:solidFill>
              </a:rPr>
              <a:t>Registro de usuarios mediante Firebase Authentication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Inicio de sesión seguro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Persistencia de sesión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Visualización de productos/películas mediante RecyclerView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Adaptadores dinámicos (Grid / Linear)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Navegación entre actividades (Login </a:t>
            </a:r>
            <a:r>
              <a:rPr lang="es-ES" sz="1700">
                <a:solidFill>
                  <a:schemeClr val="tx2"/>
                </a:solidFill>
                <a:sym typeface="Wingdings" panose="05000000000000000000" pitchFamily="2" charset="2"/>
              </a:rPr>
              <a:t></a:t>
            </a:r>
            <a:r>
              <a:rPr lang="es-ES" sz="1700">
                <a:solidFill>
                  <a:schemeClr val="tx2"/>
                </a:solidFill>
              </a:rPr>
              <a:t> Marketplace </a:t>
            </a:r>
            <a:r>
              <a:rPr lang="es-ES" sz="1700">
                <a:solidFill>
                  <a:schemeClr val="tx2"/>
                </a:solidFill>
                <a:sym typeface="Wingdings" panose="05000000000000000000" pitchFamily="2" charset="2"/>
              </a:rPr>
              <a:t></a:t>
            </a:r>
            <a:r>
              <a:rPr lang="es-ES" sz="1700">
                <a:solidFill>
                  <a:schemeClr val="tx2"/>
                </a:solidFill>
              </a:rPr>
              <a:t> Cesta)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Menú superior con opciones (Settings / Logout)</a:t>
            </a:r>
          </a:p>
          <a:p>
            <a:pPr lvl="0"/>
            <a:r>
              <a:rPr lang="es-ES" sz="1700">
                <a:solidFill>
                  <a:schemeClr val="tx2"/>
                </a:solidFill>
              </a:rPr>
              <a:t>Internacionalización básica (values / values-en)</a:t>
            </a:r>
          </a:p>
          <a:p>
            <a:endParaRPr lang="es-ES" sz="1700">
              <a:solidFill>
                <a:schemeClr val="tx2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Usuario">
            <a:extLst>
              <a:ext uri="{FF2B5EF4-FFF2-40B4-BE49-F238E27FC236}">
                <a16:creationId xmlns:a16="http://schemas.microsoft.com/office/drawing/2014/main" id="{884C8E27-CFAA-48A7-BA11-FA8DA8096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362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0BE7DB-477D-2483-A6CF-58D8EC735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s-ES" sz="3300" b="1">
                <a:solidFill>
                  <a:schemeClr val="tx2"/>
                </a:solidFill>
              </a:rPr>
              <a:t>Funcionalidades no implementadas</a:t>
            </a:r>
            <a:br>
              <a:rPr lang="es-ES" sz="3300">
                <a:solidFill>
                  <a:schemeClr val="tx2"/>
                </a:solidFill>
              </a:rPr>
            </a:br>
            <a:endParaRPr lang="es-ES" sz="3300">
              <a:solidFill>
                <a:schemeClr val="tx2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EA28A5-B495-3331-E276-372CE8754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lvl="0"/>
            <a:r>
              <a:rPr lang="es-ES" sz="1800">
                <a:solidFill>
                  <a:schemeClr val="tx2"/>
                </a:solidFill>
              </a:rPr>
              <a:t>Gestión avanzada de roles (admin/usuario)</a:t>
            </a:r>
          </a:p>
          <a:p>
            <a:pPr lvl="0"/>
            <a:r>
              <a:rPr lang="es-ES" sz="1800">
                <a:solidFill>
                  <a:schemeClr val="tx2"/>
                </a:solidFill>
              </a:rPr>
              <a:t>Persistencia compleja de productos creados por usuarios</a:t>
            </a:r>
          </a:p>
          <a:p>
            <a:pPr lvl="0"/>
            <a:r>
              <a:rPr lang="es-ES" sz="1800">
                <a:solidFill>
                  <a:schemeClr val="tx2"/>
                </a:solidFill>
              </a:rPr>
              <a:t>Pagos o transacciones reales</a:t>
            </a:r>
          </a:p>
          <a:p>
            <a:pPr lvl="0"/>
            <a:r>
              <a:rPr lang="es-ES" sz="1800">
                <a:solidFill>
                  <a:schemeClr val="tx2"/>
                </a:solidFill>
              </a:rPr>
              <a:t>Notificaciones push</a:t>
            </a:r>
          </a:p>
          <a:p>
            <a:endParaRPr lang="es-ES" sz="1800">
              <a:solidFill>
                <a:schemeClr val="tx2"/>
              </a:solidFill>
            </a:endParaRPr>
          </a:p>
        </p:txBody>
      </p:sp>
      <p:grpSp>
        <p:nvGrpSpPr>
          <p:cNvPr id="22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23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7" name="Graphic 6" descr="Jerarquía">
            <a:extLst>
              <a:ext uri="{FF2B5EF4-FFF2-40B4-BE49-F238E27FC236}">
                <a16:creationId xmlns:a16="http://schemas.microsoft.com/office/drawing/2014/main" id="{B7954D87-CEA0-CEA5-2926-F83DDC0D6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512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64C431-936A-AC39-214E-08A7D6D0D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977976" cy="1454051"/>
          </a:xfrm>
        </p:spPr>
        <p:txBody>
          <a:bodyPr>
            <a:normAutofit/>
          </a:bodyPr>
          <a:lstStyle/>
          <a:p>
            <a:r>
              <a:rPr lang="es-ES" sz="3300" b="1">
                <a:solidFill>
                  <a:schemeClr val="tx2"/>
                </a:solidFill>
              </a:rPr>
              <a:t>Funcionalidades adicionales realizadas</a:t>
            </a:r>
            <a:br>
              <a:rPr lang="es-ES" sz="3300">
                <a:solidFill>
                  <a:schemeClr val="tx2"/>
                </a:solidFill>
              </a:rPr>
            </a:br>
            <a:endParaRPr lang="es-ES" sz="3300">
              <a:solidFill>
                <a:schemeClr val="tx2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5CCD8C-E067-13E4-7825-6F538521D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2"/>
            <a:ext cx="4977578" cy="3639289"/>
          </a:xfrm>
        </p:spPr>
        <p:txBody>
          <a:bodyPr anchor="ctr">
            <a:normAutofit/>
          </a:bodyPr>
          <a:lstStyle/>
          <a:p>
            <a:pPr lvl="0"/>
            <a:r>
              <a:rPr lang="es-ES" sz="1800">
                <a:solidFill>
                  <a:schemeClr val="tx2"/>
                </a:solidFill>
              </a:rPr>
              <a:t>Control de errores de login</a:t>
            </a:r>
          </a:p>
          <a:p>
            <a:pPr lvl="0"/>
            <a:r>
              <a:rPr lang="es-ES" sz="1800">
                <a:solidFill>
                  <a:schemeClr val="tx2"/>
                </a:solidFill>
              </a:rPr>
              <a:t>Validación de campos</a:t>
            </a:r>
          </a:p>
          <a:p>
            <a:pPr lvl="0"/>
            <a:r>
              <a:rPr lang="es-ES" sz="1800">
                <a:solidFill>
                  <a:schemeClr val="tx2"/>
                </a:solidFill>
              </a:rPr>
              <a:t>Interfaz adaptable</a:t>
            </a:r>
          </a:p>
          <a:p>
            <a:endParaRPr lang="es-ES" sz="180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Marca de verificación">
            <a:extLst>
              <a:ext uri="{FF2B5EF4-FFF2-40B4-BE49-F238E27FC236}">
                <a16:creationId xmlns:a16="http://schemas.microsoft.com/office/drawing/2014/main" id="{35938363-3DED-76E8-93FE-3421C32AB7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8452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226</Words>
  <Application>Microsoft Office PowerPoint</Application>
  <PresentationFormat>Panorámica</PresentationFormat>
  <Paragraphs>35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Tema de Office</vt:lpstr>
      <vt:lpstr>Marketplace App</vt:lpstr>
      <vt:lpstr>Objetivo</vt:lpstr>
      <vt:lpstr>Tecnologías empleadas</vt:lpstr>
      <vt:lpstr>Decisiones Tecnicas</vt:lpstr>
      <vt:lpstr>Arquitectura </vt:lpstr>
      <vt:lpstr>Diagrama de flujo</vt:lpstr>
      <vt:lpstr>Funcionalidades Implementadas </vt:lpstr>
      <vt:lpstr>Funcionalidades no implementadas </vt:lpstr>
      <vt:lpstr>Funcionalidades adicionales realizadas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Álvaro Martin</dc:creator>
  <cp:lastModifiedBy>Álvaro Martin</cp:lastModifiedBy>
  <cp:revision>6</cp:revision>
  <dcterms:created xsi:type="dcterms:W3CDTF">2025-12-17T21:24:20Z</dcterms:created>
  <dcterms:modified xsi:type="dcterms:W3CDTF">2025-12-20T10:00:09Z</dcterms:modified>
</cp:coreProperties>
</file>